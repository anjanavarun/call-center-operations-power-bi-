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embeddedFontLst>
    <p:embeddedFont>
      <p:font typeface="Urbanist" panose="020B0604020202020204" charset="0"/>
      <p:regular r:id="rId8"/>
      <p:bold r:id="rId9"/>
      <p:italic r:id="rId10"/>
      <p:boldItalic r:id="rId11"/>
    </p:embeddedFont>
    <p:embeddedFont>
      <p:font typeface="Urbanist SemiBold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92" y="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62437" y="4921448"/>
            <a:ext cx="3667125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71500" y="1326951"/>
            <a:ext cx="110490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CUSTOMER OPERATIONS INTELLIGENCE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95275" y="1698426"/>
            <a:ext cx="11601450" cy="1718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Call Center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150" b="1" i="0" u="none" strike="noStrike" cap="none">
                <a:solidFill>
                  <a:srgbClr val="F59E0B"/>
                </a:solidFill>
                <a:latin typeface="Urbanist"/>
                <a:ea typeface="Urbanist"/>
                <a:cs typeface="Urbanist"/>
                <a:sym typeface="Urbanist"/>
              </a:rPr>
              <a:t>Performance Analysis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047875" y="3797498"/>
            <a:ext cx="80962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 dynamic Power BI solution to visualize Sales Rep productivity, response efficiency, and operational patterns.</a:t>
            </a:r>
            <a:endParaRPr/>
          </a:p>
        </p:txBody>
      </p:sp>
      <p:pic>
        <p:nvPicPr>
          <p:cNvPr id="89" name="Google Shape;89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77619" y="5045273"/>
            <a:ext cx="152400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/>
        </p:nvSpPr>
        <p:spPr>
          <a:xfrm>
            <a:off x="307182" y="1437784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Goal</a:t>
            </a:r>
            <a:endParaRPr dirty="0"/>
          </a:p>
        </p:txBody>
      </p:sp>
      <p:sp>
        <p:nvSpPr>
          <p:cNvPr id="97" name="Google Shape;97;p14"/>
          <p:cNvSpPr txBox="1"/>
          <p:nvPr/>
        </p:nvSpPr>
        <p:spPr>
          <a:xfrm>
            <a:off x="439341" y="1776657"/>
            <a:ext cx="3831001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Identify patterns in communication efficiency to drive decision-making. The project focuses on Sales Rep performance, call volumes (Incoming/Outgoing), and time-based metrics like Talk Duration vs. Waiting Time.</a:t>
            </a:r>
            <a:endParaRPr dirty="0"/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7169" y="4109498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477049" y="4109498"/>
            <a:ext cx="42195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Dataset:</a:t>
            </a:r>
            <a:r>
              <a:rPr lang="en-US" sz="1500" b="0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Sales Rep Activity Logs (Calls, Speed, Duration, Service Level)</a:t>
            </a:r>
            <a:endParaRPr dirty="0"/>
          </a:p>
        </p:txBody>
      </p:sp>
      <p:sp>
        <p:nvSpPr>
          <p:cNvPr id="102" name="Google Shape;102;p14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BUSINESS OBJECTIVE &amp; DATA SCOPE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84A2A3-4A62-E626-5ADF-83892E0838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1464" y="1546759"/>
            <a:ext cx="7436232" cy="41531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09825"/>
            <a:ext cx="5286375" cy="280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266950"/>
            <a:ext cx="5286375" cy="3095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866775" y="2705100"/>
            <a:ext cx="493061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59E0B"/>
                </a:solidFill>
                <a:latin typeface="Urbanist"/>
                <a:ea typeface="Urbanist"/>
                <a:cs typeface="Urbanist"/>
                <a:sym typeface="Urbanist"/>
              </a:rPr>
              <a:t>Operational Metrics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6629400" y="2562225"/>
            <a:ext cx="493061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59E0B"/>
                </a:solidFill>
                <a:latin typeface="Urbanist"/>
                <a:ea typeface="Urbanist"/>
                <a:cs typeface="Urbanist"/>
                <a:sym typeface="Urbanist"/>
              </a:rPr>
              <a:t>Rep Performance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1038225" y="3067050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▪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1104900" y="3067050"/>
            <a:ext cx="44577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Answer Rate: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Efficiency of handling incoming traffic.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1038225" y="3495675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▪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1104900" y="3495675"/>
            <a:ext cx="44577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Service Level (20s):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The percentage of calls answered within the critical 20-second threshold.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1038225" y="4210050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▪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1104900" y="4210050"/>
            <a:ext cx="44577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Abandoned Calls: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Lost opportunities identified by Rep ID.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800850" y="2924175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▪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6867525" y="2924175"/>
            <a:ext cx="44577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Call Balance: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Visualization of Outgoing vs. Incoming distribution.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800850" y="3638550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▪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6867525" y="3638550"/>
            <a:ext cx="44577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Top 3 Outbound Leaders: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Identifying the most proactive representatives.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6800850" y="4352925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▪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6867525" y="4352925"/>
            <a:ext cx="44577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Top 5 Volume Handlers: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Total load capacity per Sales Rep.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SOLUTION ARCHITECTURE: CORE KPIS</a:t>
            </a:r>
            <a:endParaRPr/>
          </a:p>
        </p:txBody>
      </p:sp>
      <p:sp>
        <p:nvSpPr>
          <p:cNvPr id="126" name="Google Shape;126;p15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6229981" y="1628775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Meaningful Patterns</a:t>
            </a:r>
            <a:endParaRPr dirty="0"/>
          </a:p>
        </p:txBody>
      </p:sp>
      <p:sp>
        <p:nvSpPr>
          <p:cNvPr id="135" name="Google Shape;135;p16"/>
          <p:cNvSpPr txBox="1"/>
          <p:nvPr/>
        </p:nvSpPr>
        <p:spPr>
          <a:xfrm>
            <a:off x="7201022" y="2255460"/>
            <a:ext cx="4723782" cy="2210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Observation: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Analysis revealed a negative correlation between Average Waiting Time and Service Level. 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1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Talk Duration: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Longer talk durations do not always correlate with higher sales, but do correlate with lower overall call volume per Rep, suggesting a need for "Average Handle Time" (AHT) optimization.</a:t>
            </a:r>
            <a:endParaRPr dirty="0"/>
          </a:p>
        </p:txBody>
      </p:sp>
      <p:sp>
        <p:nvSpPr>
          <p:cNvPr id="136" name="Google Shape;136;p16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PATTERN DISCOVERY: EFFICIENCY INSIGHTS</a:t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FD067D-D516-38F9-1289-9ED400BBFE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196" y="2364065"/>
            <a:ext cx="6475408" cy="26415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343025"/>
            <a:ext cx="3524250" cy="494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1343025"/>
            <a:ext cx="3524250" cy="494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0" y="1343025"/>
            <a:ext cx="3524250" cy="494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1676400"/>
            <a:ext cx="1905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866775" y="1847850"/>
            <a:ext cx="308038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Resource Optimization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866775" y="2162175"/>
            <a:ext cx="29337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Identify underperforming reps by comparing their volume vs. speed of answer, enabling targeted coaching.</a:t>
            </a:r>
            <a:endParaRPr/>
          </a:p>
        </p:txBody>
      </p:sp>
      <p:pic>
        <p:nvPicPr>
          <p:cNvPr id="149" name="Google Shape;149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29150" y="167640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4629150" y="1847850"/>
            <a:ext cx="308038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UX-Driven CX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4629150" y="2162175"/>
            <a:ext cx="29337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By maintaining high User Experience in the dashboard, stakeholders can pivot from data viewing to decision-making in seconds.</a:t>
            </a:r>
            <a:endParaRPr/>
          </a:p>
        </p:txBody>
      </p:sp>
      <p:pic>
        <p:nvPicPr>
          <p:cNvPr id="152" name="Google Shape;152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91525" y="1676400"/>
            <a:ext cx="1714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8391525" y="1847850"/>
            <a:ext cx="308038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Next Steps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8391525" y="2162175"/>
            <a:ext cx="29337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Integrate sentiment analysis from call transcripts to correlate 'Talk Duration' with actual customer satisfaction scores.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CONCLUSION &amp; BUSINESS IMPACT</a:t>
            </a:r>
            <a:endParaRPr/>
          </a:p>
        </p:txBody>
      </p:sp>
      <p:sp>
        <p:nvSpPr>
          <p:cNvPr id="156" name="Google Shape;156;p17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295</Words>
  <Application>Microsoft Office PowerPoint</Application>
  <PresentationFormat>Widescreen</PresentationFormat>
  <Paragraphs>32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Urbanist</vt:lpstr>
      <vt:lpstr>Calibri</vt:lpstr>
      <vt:lpstr>Arial</vt:lpstr>
      <vt:lpstr>Urbanist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Lenovo</cp:lastModifiedBy>
  <cp:revision>1</cp:revision>
  <dcterms:modified xsi:type="dcterms:W3CDTF">2026-05-12T10:48:30Z</dcterms:modified>
</cp:coreProperties>
</file>